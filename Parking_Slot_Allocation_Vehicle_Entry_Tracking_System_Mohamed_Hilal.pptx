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822960"/>
            <a:ext cx="2377440" cy="2377440"/>
          </a:xfrm>
          <a:prstGeom prst="ellipse">
            <a:avLst/>
          </a:prstGeom>
          <a:solidFill>
            <a:srgbClr val="15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1920240"/>
            <a:ext cx="1554480" cy="1554480"/>
          </a:xfrm>
          <a:prstGeom prst="ellipse">
            <a:avLst/>
          </a:prstGeom>
          <a:solidFill>
            <a:srgbClr val="18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2834640"/>
            <a:ext cx="1005840" cy="1005840"/>
          </a:xfrm>
          <a:prstGeom prst="ellipse">
            <a:avLst/>
          </a:prstGeom>
          <a:solidFill>
            <a:srgbClr val="19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6766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ADCD2"/>
                </a:solidFill>
                <a:latin typeface="Aptos"/>
              </a:rPr>
              <a:t>SMART PARKING • VEHICLE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68096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2F7FF"/>
                </a:solidFill>
                <a:latin typeface="Aptos"/>
              </a:rPr>
              <a:t>Parking Slot Allocation
&amp; Vehicle Entry Tracking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6675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A9B8CD"/>
                </a:solidFill>
                <a:latin typeface="Aptos"/>
              </a:rPr>
              <a:t>A smart, organized approach to parking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13232" cy="960120"/>
          </a:xfrm>
          <a:prstGeom prst="roundRect">
            <a:avLst/>
          </a:prstGeom>
          <a:solidFill>
            <a:srgbClr val="152239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2DC91"/>
                </a:solidFill>
                <a:latin typeface="Aptos"/>
              </a:rPr>
              <a:t>P1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" y="5010912"/>
            <a:ext cx="457200" cy="256032"/>
          </a:xfrm>
          <a:prstGeom prst="roundRect">
            <a:avLst/>
          </a:prstGeom>
          <a:solidFill>
            <a:srgbClr val="52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83080" y="4572000"/>
            <a:ext cx="713232" cy="960120"/>
          </a:xfrm>
          <a:prstGeom prst="roundRect">
            <a:avLst/>
          </a:prstGeom>
          <a:solidFill>
            <a:srgbClr val="152239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46634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6978"/>
                </a:solidFill>
                <a:latin typeface="Aptos"/>
              </a:rPr>
              <a:t>P2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1096" y="5010912"/>
            <a:ext cx="457200" cy="256032"/>
          </a:xfrm>
          <a:prstGeom prst="roundRect">
            <a:avLst/>
          </a:prstGeom>
          <a:solidFill>
            <a:srgbClr val="F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4572000"/>
            <a:ext cx="713232" cy="960120"/>
          </a:xfrm>
          <a:prstGeom prst="roundRect">
            <a:avLst/>
          </a:prstGeom>
          <a:solidFill>
            <a:srgbClr val="152239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6634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2DC91"/>
                </a:solidFill>
                <a:latin typeface="Aptos"/>
              </a:rPr>
              <a:t>P3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6" y="5010912"/>
            <a:ext cx="457200" cy="256032"/>
          </a:xfrm>
          <a:prstGeom prst="roundRect">
            <a:avLst/>
          </a:prstGeom>
          <a:solidFill>
            <a:srgbClr val="52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3320" y="4572000"/>
            <a:ext cx="713232" cy="960120"/>
          </a:xfrm>
          <a:prstGeom prst="roundRect">
            <a:avLst/>
          </a:prstGeom>
          <a:solidFill>
            <a:srgbClr val="152239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6634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B14A"/>
                </a:solidFill>
                <a:latin typeface="Aptos"/>
              </a:rPr>
              <a:t>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1336" y="5010912"/>
            <a:ext cx="457200" cy="256032"/>
          </a:xfrm>
          <a:prstGeom prst="round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4572000"/>
            <a:ext cx="713232" cy="960120"/>
          </a:xfrm>
          <a:prstGeom prst="roundRect">
            <a:avLst/>
          </a:prstGeom>
          <a:solidFill>
            <a:srgbClr val="152239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6634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52DC91"/>
                </a:solidFill>
                <a:latin typeface="Aptos"/>
              </a:rPr>
              <a:t>P5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1456" y="5010912"/>
            <a:ext cx="457200" cy="256032"/>
          </a:xfrm>
          <a:prstGeom prst="roundRect">
            <a:avLst/>
          </a:prstGeom>
          <a:solidFill>
            <a:srgbClr val="52D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89204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ADCD2"/>
                </a:solidFill>
                <a:latin typeface="Aptos"/>
              </a:rPr>
              <a:t>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5321808"/>
            <a:ext cx="310896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t>Presented by: Mohamed Hilal</a:t>
            </a:r>
          </a:p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t>B.Sc. Computer Science</a:t>
            </a:r>
          </a:p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t>KG College of Arts and Science</a:t>
            </a:r>
          </a:p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t>Faculty: Mr. Dharaneesh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What the system does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ADCD2"/>
                </a:solidFill>
                <a:latin typeface="Aptos"/>
              </a:rPr>
              <a:t>OVERVIEW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29384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Manages parking spaces digitally instead of relying only on manual checking.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734056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79191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Tracks vehicle entry and exit with a time-stamped record.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538727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83863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Shows available, occupied, and reserved parking slots.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399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88536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Helps drivers and parking staff make faster, more informed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Common issues in conventional parking facilities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B14A"/>
                </a:solidFill>
                <a:latin typeface="Aptos"/>
              </a:rPr>
              <a:t>TIME WASTAGE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072384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Drivers spend time searching for a free slot, creating queues at entrances.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7472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9339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POOR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072384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Staff may not have a reliable, real-time view of occupied and vacant spaces.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6978"/>
                </a:solidFill>
                <a:latin typeface="Aptos"/>
              </a:rPr>
              <a:t>MANUAL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23160"/>
            <a:ext cx="3072384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Paper logs can be slow to update and make entry/exit history harder to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A9B8CD"/>
                </a:solidFill>
                <a:latin typeface="Aptos"/>
              </a:rPr>
              <a:t>Impact: congestion • inefficient space usage • avoidable confusion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Goals of 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ADCD2"/>
                </a:solidFill>
                <a:latin typeface="Aptos"/>
              </a:rPr>
              <a:t>GOALS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29384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Allocate a suitable available slot when a vehicle arrives.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734056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79191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Record vehicle number, entry time, slot ID, and exit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538727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83863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Update slot status immediately after allocation or release.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399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88536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Provide a simple dashboard for staff to monitor parking occupancy.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148071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93207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Maintain searchable records for reporting and basic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A connected workflow from arrival to departure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05740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DCD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783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VEHICLE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2"/>
            <a:ext cx="1783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9B8CD"/>
                </a:solidFill>
                <a:latin typeface="Aptos"/>
              </a:rPr>
              <a:t>Enter or scan vehicle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26080"/>
            <a:ext cx="274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ADCD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240280"/>
            <a:ext cx="205740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799" y="242316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DCD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834640"/>
            <a:ext cx="1783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CHECK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364992"/>
            <a:ext cx="1783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9B8CD"/>
                </a:solidFill>
                <a:latin typeface="Aptos"/>
              </a:rPr>
              <a:t>Find a free compatible 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26080"/>
            <a:ext cx="274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ADCD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2240280"/>
            <a:ext cx="205740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42316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DCD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34640"/>
            <a:ext cx="1783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ALLOCATE SLOT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364992"/>
            <a:ext cx="1783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9B8CD"/>
                </a:solidFill>
                <a:latin typeface="Aptos"/>
              </a:rPr>
              <a:t>Assign slot and record 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926080"/>
            <a:ext cx="274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ADCD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240280"/>
            <a:ext cx="205740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42316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DCD2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834640"/>
            <a:ext cx="1783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TRACK PARKING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364992"/>
            <a:ext cx="1783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9B8CD"/>
                </a:solidFill>
                <a:latin typeface="Aptos"/>
              </a:rPr>
              <a:t>Update occupancy in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926080"/>
            <a:ext cx="274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ADCD2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240280"/>
            <a:ext cx="2057400" cy="1920240"/>
          </a:xfrm>
          <a:prstGeom prst="roundRect">
            <a:avLst/>
          </a:prstGeom>
          <a:solidFill>
            <a:srgbClr val="152239"/>
          </a:solidFill>
          <a:ln>
            <a:solidFill>
              <a:srgbClr val="27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42316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DCD2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834640"/>
            <a:ext cx="1783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7FF"/>
                </a:solidFill>
                <a:latin typeface="Aptos"/>
              </a:rPr>
              <a:t>EXIT &amp;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364992"/>
            <a:ext cx="1783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9B8CD"/>
                </a:solidFill>
                <a:latin typeface="Aptos"/>
              </a:rPr>
              <a:t>Record exit and free the slot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52DC91"/>
                </a:solidFill>
                <a:latin typeface="Aptos"/>
              </a:rPr>
              <a:t>The slot is marked available again only after the exit is 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High-level view of the main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783080"/>
            <a:ext cx="8503920" cy="713232"/>
          </a:xfrm>
          <a:prstGeom prst="roundRect">
            <a:avLst/>
          </a:prstGeom>
          <a:solidFill>
            <a:srgbClr val="152239"/>
          </a:solidFill>
          <a:ln>
            <a:solidFill>
              <a:srgbClr val="2A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892807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DCD2"/>
                </a:solidFill>
                <a:latin typeface="Aptos"/>
              </a:rPr>
              <a:t>USER / 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92807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Browser or entry kiosk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49631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ADCD2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807208"/>
            <a:ext cx="8503920" cy="713232"/>
          </a:xfrm>
          <a:prstGeom prst="roundRect">
            <a:avLst/>
          </a:prstGeom>
          <a:solidFill>
            <a:srgbClr val="152239"/>
          </a:solidFill>
          <a:ln>
            <a:solidFill>
              <a:srgbClr val="2A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91693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DCD2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16936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Slot allocation + entry/exit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5204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ADCD2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831336"/>
            <a:ext cx="8503920" cy="713232"/>
          </a:xfrm>
          <a:prstGeom prst="roundRect">
            <a:avLst/>
          </a:prstGeom>
          <a:solidFill>
            <a:srgbClr val="152239"/>
          </a:solidFill>
          <a:ln>
            <a:solidFill>
              <a:srgbClr val="2A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941064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DCD2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41064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Vehicles • slots • parking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544568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ADCD2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855464"/>
            <a:ext cx="8503920" cy="713232"/>
          </a:xfrm>
          <a:prstGeom prst="roundRect">
            <a:avLst/>
          </a:prstGeom>
          <a:solidFill>
            <a:srgbClr val="1D3041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965192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B14A"/>
                </a:solidFill>
                <a:latin typeface="Aptos"/>
              </a:rPr>
              <a:t>OPTIONAL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65192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Camera / QR / barrier sensor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Key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The system can be developed in independent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1. VEHICLE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3072384" cy="8412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Capture vehicle number and basic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37360"/>
            <a:ext cx="347472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DC91"/>
                </a:solidFill>
                <a:latin typeface="Aptos"/>
              </a:rPr>
              <a:t>2. SLOT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072384" cy="8412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Choose a free slot and mark it occupied.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7472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B14A"/>
                </a:solidFill>
                <a:latin typeface="Aptos"/>
              </a:rPr>
              <a:t>3. ENTRY / EXIT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31720"/>
            <a:ext cx="3072384" cy="8412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Store timestamps and parking session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347472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22191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4.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51960"/>
            <a:ext cx="3072384" cy="8412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Display slot status and total occupancy.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657600"/>
            <a:ext cx="347472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822191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DC91"/>
                </a:solidFill>
                <a:latin typeface="Aptos"/>
              </a:rPr>
              <a:t>5. SEARCH &amp;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3072384" cy="8412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Find records by vehicle number or date.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3474720" cy="155448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22191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B14A"/>
                </a:solidFill>
                <a:latin typeface="Aptos"/>
              </a:rPr>
              <a:t>6. ADMIN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251960"/>
            <a:ext cx="3072384" cy="8412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Manage slots, users, and system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Slot Allocation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Example of a simple allocation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2560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6268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4626864" cy="1847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Vehicle arrives
↓
Check active parking slots
↓
Filter slots where status =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2560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993392"/>
            <a:ext cx="46268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DC91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4626864" cy="1847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If a slot is available:
• Assign the selected slot
• Save vehicle + entry time
• Mark slot OCCUPIED
Otherwise: show “Parking Full”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A9B8CD"/>
                </a:solidFill>
                <a:latin typeface="Aptos"/>
              </a:rPr>
              <a:t>Possible enhancements: vehicle-size matching, reserved spaces, accessible parking, priority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Suggested core tables and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2148840" cy="502920"/>
          </a:xfrm>
          <a:prstGeom prst="rect">
            <a:avLst/>
          </a:prstGeom>
          <a:solidFill>
            <a:srgbClr val="2ADCD2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47088"/>
            <a:ext cx="1929384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426"/>
                </a:solidFill>
                <a:latin typeface="Aptos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737360"/>
            <a:ext cx="4663440" cy="502920"/>
          </a:xfrm>
          <a:prstGeom prst="rect">
            <a:avLst/>
          </a:prstGeom>
          <a:solidFill>
            <a:srgbClr val="2ADCD2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847088"/>
            <a:ext cx="4443983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426"/>
                </a:solidFill>
                <a:latin typeface="Aptos"/>
              </a:rPr>
              <a:t>Example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737360"/>
            <a:ext cx="4069080" cy="502920"/>
          </a:xfrm>
          <a:prstGeom prst="rect">
            <a:avLst/>
          </a:prstGeom>
          <a:solidFill>
            <a:srgbClr val="2ADCD2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1847088"/>
            <a:ext cx="3849624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426"/>
                </a:solidFill>
                <a:latin typeface="Aptos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40280"/>
            <a:ext cx="21488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350008"/>
            <a:ext cx="19293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Vehicles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240280"/>
            <a:ext cx="46634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350008"/>
            <a:ext cx="4443983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vehicle_id, plate_number, vehicle_type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240280"/>
            <a:ext cx="406908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2350008"/>
            <a:ext cx="384962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Stores vehicle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53512"/>
            <a:ext cx="21488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063240"/>
            <a:ext cx="19293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ParkingSlots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53512"/>
            <a:ext cx="46634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3063240"/>
            <a:ext cx="4443983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slot_id, location, status, slot_type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953512"/>
            <a:ext cx="406908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7" y="3063240"/>
            <a:ext cx="384962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Tracks each parking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66744"/>
            <a:ext cx="21488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776472"/>
            <a:ext cx="19293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ParkingSessions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666744"/>
            <a:ext cx="46634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3776472"/>
            <a:ext cx="4443983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session_id, vehicle_id, slot_id, entry_time, exit_time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666744"/>
            <a:ext cx="406908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7807" y="3776472"/>
            <a:ext cx="384962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Records each visit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79976"/>
            <a:ext cx="21488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489704"/>
            <a:ext cx="19293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Users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379976"/>
            <a:ext cx="466344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44368" y="4489704"/>
            <a:ext cx="4443983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user_id, username, role, password_hash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379976"/>
            <a:ext cx="4069080" cy="713232"/>
          </a:xfrm>
          <a:prstGeom prst="rect">
            <a:avLst/>
          </a:prstGeom>
          <a:solidFill>
            <a:srgbClr val="152239"/>
          </a:solidFill>
          <a:ln>
            <a:solidFill>
              <a:srgbClr val="31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7" y="4489704"/>
            <a:ext cx="384962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Controls authorized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Use a unique constraint on plate_number where appropriate, and validate all user input.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One practical option for an academic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1417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FRONT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307238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HTML • CSS • JavaScript
Responsive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37360"/>
            <a:ext cx="3474720" cy="1417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DC91"/>
                </a:solidFill>
                <a:latin typeface="Aptos"/>
              </a:rPr>
              <a:t>BACK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07238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Python Flask / Node.js
Allocation and tracking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74720" cy="1417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B14A"/>
                </a:solidFill>
                <a:latin typeface="Aptos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31720"/>
            <a:ext cx="307238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MySQL / SQLite
Structured parking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3474720" cy="1417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22191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B14A"/>
                </a:solidFill>
                <a:latin typeface="Aptos"/>
              </a:rPr>
              <a:t>OPTIONAL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51960"/>
            <a:ext cx="307238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QR scanner, camera, IR sensor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657600"/>
            <a:ext cx="3474720" cy="1417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822191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DEVELOPMENT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307238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VS Code • Git •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3474720" cy="141732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22191"/>
            <a:ext cx="3072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DC91"/>
                </a:solidFill>
                <a:latin typeface="Aptos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251960"/>
            <a:ext cx="307238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Local server or cloud hosting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Security &amp;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Important design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ADCD2"/>
                </a:solidFill>
                <a:latin typeface="Aptos"/>
              </a:rPr>
              <a:t>QUALITY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29384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Require authentication for staff and administrators.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734056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79191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Store password hashes rather than plain-text passwords.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538727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83863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Validate vehicle numbers and prevent duplicate active sessions.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343399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88536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Use transactions to avoid assigning the same slot to two vehicles.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148071"/>
            <a:ext cx="146304" cy="146304"/>
          </a:xfrm>
          <a:prstGeom prst="ellipse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93207"/>
            <a:ext cx="1014984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2F7FF"/>
                </a:solidFill>
                <a:latin typeface="Aptos"/>
              </a:rPr>
              <a:t>Keep audit logs and back up parking records regularly.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Testing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Check expected behavior before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2DC91"/>
                </a:solidFill>
                <a:latin typeface="Aptos"/>
              </a:rPr>
              <a:t>Slot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2F7FF"/>
                </a:solidFill>
                <a:latin typeface="Aptos"/>
              </a:rPr>
              <a:t>Vehicle assigned; slot becomes occupied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03704"/>
            <a:ext cx="10515600" cy="10972"/>
          </a:xfrm>
          <a:prstGeom prst="rect">
            <a:avLst/>
          </a:prstGeom>
          <a:solidFill>
            <a:srgbClr val="2A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B14A"/>
                </a:solidFill>
                <a:latin typeface="Aptos"/>
              </a:rPr>
              <a:t>Parking 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96312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2F7FF"/>
                </a:solidFill>
                <a:latin typeface="Aptos"/>
              </a:rPr>
              <a:t>System shows no available slot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08376"/>
            <a:ext cx="10515600" cy="10972"/>
          </a:xfrm>
          <a:prstGeom prst="rect">
            <a:avLst/>
          </a:prstGeom>
          <a:solidFill>
            <a:srgbClr val="2A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00984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2DC91"/>
                </a:solidFill>
                <a:latin typeface="Aptos"/>
              </a:rPr>
              <a:t>Vehicle exits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00984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2F7FF"/>
                </a:solidFill>
                <a:latin typeface="Aptos"/>
              </a:rPr>
              <a:t>Exit time saved; slot becomes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13048"/>
            <a:ext cx="10515600" cy="10972"/>
          </a:xfrm>
          <a:prstGeom prst="rect">
            <a:avLst/>
          </a:prstGeom>
          <a:solidFill>
            <a:srgbClr val="2A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0565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B14A"/>
                </a:solidFill>
                <a:latin typeface="Aptos"/>
              </a:rPr>
              <a:t>Duplicate active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05656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2F7FF"/>
                </a:solidFill>
                <a:latin typeface="Aptos"/>
              </a:rPr>
              <a:t>System prevents conflicting 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617720"/>
            <a:ext cx="10515600" cy="10972"/>
          </a:xfrm>
          <a:prstGeom prst="rect">
            <a:avLst/>
          </a:prstGeom>
          <a:solidFill>
            <a:srgbClr val="2A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1032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6978"/>
                </a:solidFill>
                <a:latin typeface="Aptos"/>
              </a:rPr>
              <a:t>Invalid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910328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2F7FF"/>
                </a:solidFill>
                <a:latin typeface="Aptos"/>
              </a:rPr>
              <a:t>Clear validation message shown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422392"/>
            <a:ext cx="10515600" cy="10972"/>
          </a:xfrm>
          <a:prstGeom prst="rect">
            <a:avLst/>
          </a:prstGeom>
          <a:solidFill>
            <a:srgbClr val="2A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2F7FF"/>
                </a:solidFill>
                <a:latin typeface="Aptos"/>
              </a:rPr>
              <a:t>Benefits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0292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A9B8CD"/>
                </a:solidFill>
                <a:latin typeface="Aptos"/>
              </a:rPr>
              <a:t>Expected value and possible upgrades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A9B8CD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166360" cy="329184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47640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DC91"/>
                </a:solidFill>
                <a:latin typeface="Aptos"/>
              </a:rPr>
              <a:t>EXPECTED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4764024" cy="2578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• Faster parking decisions
• Better use of available spaces
• Reduced manual record keeping
• Easier entry/exit history search
• Clearer occupancy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66360" cy="3291840"/>
          </a:xfrm>
          <a:prstGeom prst="roundRect">
            <a:avLst/>
          </a:prstGeom>
          <a:solidFill>
            <a:srgbClr val="152239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01952"/>
            <a:ext cx="47640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DCD2"/>
                </a:solidFill>
                <a:latin typeface="Aptos"/>
              </a:rP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31720"/>
            <a:ext cx="4764024" cy="2578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7FF"/>
                </a:solidFill>
                <a:latin typeface="Aptos"/>
              </a:rPr>
              <a:t>• Automatic number plate recognition
• Mobile app and advance reservations
• Digital payments and fee calculation
• Sensor-based real-time occupancy
• Analytics for peak-hour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A9B8CD"/>
                </a:solidFill>
                <a:latin typeface="Aptos"/>
              </a:rPr>
              <a:t>These are proposed outcomes; actual performance depends on implementation and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2F7FF"/>
                </a:solidFill>
                <a:latin typeface="Apto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40680" y="2148840"/>
            <a:ext cx="1280160" cy="54864"/>
          </a:xfrm>
          <a:prstGeom prst="rect">
            <a:avLst/>
          </a:prstGeom>
          <a:solidFill>
            <a:srgbClr val="2A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ADCD2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A9B8CD"/>
                </a:solidFill>
                <a:latin typeface="Aptos"/>
              </a:rPr>
              <a:t>Parking Slot Allocation &amp; Vehicle Entry Tracking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572000"/>
            <a:ext cx="685800" cy="822960"/>
          </a:xfrm>
          <a:prstGeom prst="roundRect">
            <a:avLst/>
          </a:prstGeom>
          <a:solidFill>
            <a:srgbClr val="152239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8006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52DC91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572000"/>
            <a:ext cx="685800" cy="822960"/>
          </a:xfrm>
          <a:prstGeom prst="roundRect">
            <a:avLst/>
          </a:prstGeom>
          <a:solidFill>
            <a:srgbClr val="152239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8006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6978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4572000"/>
            <a:ext cx="685800" cy="822960"/>
          </a:xfrm>
          <a:prstGeom prst="roundRect">
            <a:avLst/>
          </a:prstGeom>
          <a:solidFill>
            <a:srgbClr val="152239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8006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52DC91"/>
                </a:solidFill>
                <a:latin typeface="Apto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572000"/>
            <a:ext cx="685800" cy="822960"/>
          </a:xfrm>
          <a:prstGeom prst="roundRect">
            <a:avLst/>
          </a:prstGeom>
          <a:solidFill>
            <a:srgbClr val="152239"/>
          </a:solidFill>
          <a:ln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8006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B14A"/>
                </a:solidFill>
                <a:latin typeface="Apto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572000"/>
            <a:ext cx="685800" cy="822960"/>
          </a:xfrm>
          <a:prstGeom prst="roundRect">
            <a:avLst/>
          </a:prstGeom>
          <a:solidFill>
            <a:srgbClr val="152239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800600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52DC9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